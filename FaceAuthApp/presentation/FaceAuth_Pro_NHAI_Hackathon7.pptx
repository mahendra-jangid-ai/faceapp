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914400" cy="9144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onsolas"/>
              </a:defRPr>
            </a:pPr>
            <a:r>
              <a:t>{.}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0F4F8"/>
                </a:solidFill>
                <a:latin typeface="Segoe UI"/>
              </a:defRPr>
            </a:pPr>
            <a:r>
              <a:t>FACEAUTH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331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Segoe UI"/>
              </a:defRPr>
            </a:pPr>
            <a:r>
              <a:t>Offline Biometric Authentication for Highway Workers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017520"/>
            <a:ext cx="1828800" cy="3657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291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Segoe UI"/>
              </a:defRPr>
            </a:pPr>
            <a:r>
              <a:t>NHAI HACKATHON 7.0  |  Datalake 3.0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7490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Segoe UI"/>
              </a:defRPr>
            </a:pPr>
            <a:r>
              <a:t>Team: Khamir Desai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03520"/>
            <a:ext cx="160020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3095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MobileFaceNet INT8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5303520"/>
            <a:ext cx="160020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533095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AES-256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5303520"/>
            <a:ext cx="160020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33095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BioHash ISO 24745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5303520"/>
            <a:ext cx="160020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9" y="533095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Liveness Detection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5303520"/>
            <a:ext cx="160020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533095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Anti-Spoof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5303520"/>
            <a:ext cx="160020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533095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PPE Compliance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Highway Worker Identity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828800"/>
            <a:ext cx="502920" cy="50292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470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5252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Ghost Workers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03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Fake attendance, buddy-punching, no real identity verification at remote highway sites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43200"/>
            <a:ext cx="10698480" cy="9144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926080"/>
            <a:ext cx="502920" cy="50292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4436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30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No Connectivity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Remote highway sites lack stable internet; cloud-dependent solutions fail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10698480" cy="9144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023360"/>
            <a:ext cx="502920" cy="50292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0416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31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Safety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Workers bypass PPE requirements; no automated enforcement before site entry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937759"/>
            <a:ext cx="10698480" cy="9144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5120640"/>
            <a:ext cx="502920" cy="50292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138927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2919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Data Privacy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949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Biometric data stored insecurely; no compliance with ISO/IEC 24745 standards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End-to-End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73736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8"/>
                </a:solidFill>
                <a:latin typeface="Segoe UI"/>
              </a:defRPr>
            </a:pPr>
            <a:r>
              <a:t>Camera</a:t>
            </a:r>
            <a:br/>
            <a:r>
              <a:t>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Vision Camera</a:t>
            </a:r>
            <a:br/>
            <a:r>
              <a:t>front/back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4748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1828800"/>
            <a:ext cx="173736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1920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8"/>
                </a:solidFill>
                <a:latin typeface="Segoe UI"/>
              </a:defRPr>
            </a:pPr>
            <a:r>
              <a:t>Face</a:t>
            </a:r>
            <a:br/>
            <a:r>
              <a:t>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468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ML Kit</a:t>
            </a:r>
            <a:br/>
            <a:r>
              <a:t>Accurate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4748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828800"/>
            <a:ext cx="173736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920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8"/>
                </a:solidFill>
                <a:latin typeface="Segoe UI"/>
              </a:defRPr>
            </a:pPr>
            <a:r>
              <a:t>Liveness</a:t>
            </a:r>
            <a:br/>
            <a: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68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3 Challenges</a:t>
            </a:r>
            <a:br/>
            <a:r>
              <a:t>Blink/Smile/Turn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4748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28800"/>
            <a:ext cx="173736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8"/>
                </a:solidFill>
                <a:latin typeface="Segoe UI"/>
              </a:defRPr>
            </a:pPr>
            <a:r>
              <a:t>Anti-Spoof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468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Laplacian</a:t>
            </a:r>
            <a:br/>
            <a:r>
              <a:t>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4748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828800"/>
            <a:ext cx="173736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920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8"/>
                </a:solidFill>
                <a:latin typeface="Segoe UI"/>
              </a:defRPr>
            </a:pPr>
            <a:r>
              <a:t>Embedding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468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MobileFaceNet</a:t>
            </a:r>
            <a:br/>
            <a:r>
              <a:t>INT8 ONNX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4748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1828800"/>
            <a:ext cx="173736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1920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8"/>
                </a:solidFill>
                <a:latin typeface="Segoe UI"/>
              </a:defRPr>
            </a:pPr>
            <a:r>
              <a:t>Match &amp;</a:t>
            </a:r>
            <a:br/>
            <a:r>
              <a:t>BioHash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468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Cosine + ISO</a:t>
            </a:r>
            <a:br/>
            <a:r>
              <a:t>24745 Verify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474720"/>
            <a:ext cx="11247120" cy="54864"/>
          </a:xfrm>
          <a:prstGeom prst="roundRect">
            <a:avLst/>
          </a:prstGeom>
          <a:solidFill>
            <a:srgbClr val="23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3840480"/>
            <a:ext cx="2651760" cy="100584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9776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AES-256 Encryption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3434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Hardware Keystore backed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3840480"/>
            <a:ext cx="2651760" cy="100584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39776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FF"/>
                </a:solidFill>
                <a:latin typeface="Segoe UI"/>
              </a:defRPr>
            </a:pPr>
            <a:r>
              <a:t>BioHash ISO 24745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3434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Cancellable templates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840480"/>
            <a:ext cx="2651760" cy="100584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39776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  <a:latin typeface="Segoe UI"/>
              </a:defRPr>
            </a:pPr>
            <a:r>
              <a:t>Differential Privacy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3434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Noise-calibrated protection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61120" y="3840480"/>
            <a:ext cx="2651760" cy="100584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0" y="39776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300"/>
                </a:solidFill>
                <a:latin typeface="Segoe UI"/>
              </a:defRPr>
            </a:pPr>
            <a:r>
              <a:t>Geofencing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3434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GPS-verified site access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Data Flow: Camera &gt; ML Kit &gt; ONNX Runtime &gt; Cosine Similarity &gt; BioHash Verify &gt; AES-256 Storage &gt; Datalake 3.0 Sync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Competitor-Beating Capabilities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566160" cy="21945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Segoe UI"/>
              </a:defRPr>
            </a:pPr>
            <a:r>
              <a:t>100% Offline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No internet required. ONNX model runs entirely on-device.</a:t>
            </a:r>
            <a:br/>
            <a:r>
              <a:t>1.15 MB model, ~170ms pipeline.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F4F8"/>
                </a:solidFill>
                <a:latin typeface="Segoe UI"/>
              </a:defRPr>
            </a:pPr>
            <a:r>
              <a:t>Works at remote highway sites with zero connectivity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1945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566160" cy="54864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Multi-Layer Liveness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3 random challenges: blink, smile, head turn.</a:t>
            </a:r>
            <a:br/>
            <a:r>
              <a:t>Real-time eye/smile/angle detection via ML Kit.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F4F8"/>
                </a:solidFill>
                <a:latin typeface="Segoe UI"/>
              </a:defRPr>
            </a:pPr>
            <a:r>
              <a:t>Prevents photo/video replay attacks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566160" cy="21945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1645920"/>
            <a:ext cx="3566160" cy="54864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BioHash (ISO 24745)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Cancellable biometric templates with random projection.</a:t>
            </a:r>
            <a:br/>
            <a:r>
              <a:t>Original embedding mathematically irrecoverable.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F4F8"/>
                </a:solidFill>
                <a:latin typeface="Segoe UI"/>
              </a:defRPr>
            </a:pPr>
            <a:r>
              <a:t>Industry-standard biometric protection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14800"/>
            <a:ext cx="3566160" cy="21945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4114800"/>
            <a:ext cx="3566160" cy="54864"/>
          </a:xfrm>
          <a:prstGeom prst="roundRect">
            <a:avLst/>
          </a:prstGeom>
          <a:solidFill>
            <a:srgbClr val="FF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5252"/>
                </a:solidFill>
                <a:latin typeface="Segoe UI"/>
              </a:defRPr>
            </a:pPr>
            <a:r>
              <a:t>Anti-Spoof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Laplacian variance analysis detects printed photos</a:t>
            </a:r>
            <a:br/>
            <a:r>
              <a:t>and screen replays. Sigmoid-scored 0-100%.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F4F8"/>
                </a:solidFill>
                <a:latin typeface="Segoe UI"/>
              </a:defRPr>
            </a:pPr>
            <a:r>
              <a:t>Blocks presentation attacks at the sensor level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4114800"/>
            <a:ext cx="3566160" cy="21945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97680" y="4114800"/>
            <a:ext cx="3566160" cy="54864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300"/>
                </a:solidFill>
                <a:latin typeface="Segoe UI"/>
              </a:defRPr>
            </a:pPr>
            <a:r>
              <a:t>PPE 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709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Automated helmet &amp; vest detection before site entry.</a:t>
            </a:r>
            <a:br/>
            <a:r>
              <a:t>Configurable enforcement with block-on-failure.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669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F4F8"/>
                </a:solidFill>
                <a:latin typeface="Segoe UI"/>
              </a:defRPr>
            </a:pPr>
            <a:r>
              <a:t>Integrates safety into authentication flow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14800"/>
            <a:ext cx="3566160" cy="21945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60" y="4114800"/>
            <a:ext cx="3566160" cy="54864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Adaptive Thresholds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709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ML-based threshold learning from genuine/impostor</a:t>
            </a:r>
            <a:br/>
            <a:r>
              <a:t>distributions. Auto-tunes for deployment environment.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669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0F4F8"/>
                </a:solidFill>
                <a:latin typeface="Segoe UI"/>
              </a:defRPr>
            </a:pPr>
            <a:r>
              <a:t>Self-improving accuracy over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TECHNICAL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Under the 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486400" cy="47548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MODEL &amp;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194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MobileFaceNet (INT8 quantized)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60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1.15 MB (vs 90MB+ competitors)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ONNX Runtime Android 1.18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291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112x112 RGB, normalized [-1,1]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128D L2-normalized embedding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99.28% on LFW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~170ms end-to-end on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54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Face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754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ML Kit Accurate + Landmarks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Spoof Score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5120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Laplacian variance &gt; sigmoid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86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5486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Cosine similarity, threshold 0.45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52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Dup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852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Cosine &gt;= 0.75 blocks enrollment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645920"/>
            <a:ext cx="5486400" cy="47548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Segoe UI"/>
              </a:defRPr>
            </a:pPr>
            <a:r>
              <a:t>SECURITY &amp;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Encryption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194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AES-256-GCM + Android Keystore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BioHash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560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Random projection, Hamming dist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926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Diff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Laplace noise, epsilon-calibrated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291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Liveness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91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3/4 random challenges per scan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657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Anti-Spoof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Laplacian variance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023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Geofence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GPS radius check per work site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Rate Limit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3 fails = 30s lockout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4754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PPE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754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Helmet + vest color detection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Voice TTS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120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Hindi/English guidance prompts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486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WCAG AAA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486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High contrast outdoor mode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5852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Sync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5852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4F8"/>
                </a:solidFill>
                <a:latin typeface="Consolas"/>
              </a:defRPr>
            </a:pPr>
            <a:r>
              <a:t>Datalake 3.0 + retry backoff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Datalake 3.0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651760" cy="25603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6B35"/>
                </a:solidFill>
                <a:latin typeface="Segoe UI"/>
              </a:defRPr>
            </a:pPr>
            <a:r>
              <a:t>On-Device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2103120" cy="36576"/>
          </a:xfrm>
          <a:prstGeom prst="roundRect">
            <a:avLst/>
          </a:prstGeom>
          <a:solidFill>
            <a:srgbClr val="23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Face capture</a:t>
            </a:r>
            <a:br/>
            <a:r>
              <a:t>Liveness + Spoof</a:t>
            </a:r>
            <a:br/>
            <a:r>
              <a:t>Embedding gen</a:t>
            </a:r>
            <a:br/>
            <a:r>
              <a:t>BioHash secure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Consolas"/>
              </a:defRPr>
            </a:pPr>
            <a:r>
              <a:t>&gt;&gt;&gt;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45920"/>
            <a:ext cx="2651760" cy="25603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Local Storage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148840"/>
            <a:ext cx="2103120" cy="36576"/>
          </a:xfrm>
          <a:prstGeom prst="roundRect">
            <a:avLst/>
          </a:prstGeom>
          <a:solidFill>
            <a:srgbClr val="23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2860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AES-256 encrypted</a:t>
            </a:r>
            <a:br/>
            <a:r>
              <a:t>AsyncStorage DB</a:t>
            </a:r>
            <a:br/>
            <a:r>
              <a:t>Attendance logs</a:t>
            </a:r>
            <a:br/>
            <a:r>
              <a:t>Auth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Consolas"/>
              </a:defRPr>
            </a:pPr>
            <a:r>
              <a:t>&gt;&gt;&gt;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645920"/>
            <a:ext cx="2651760" cy="25603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Sync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148840"/>
            <a:ext cx="2103120" cy="36576"/>
          </a:xfrm>
          <a:prstGeom prst="roundRect">
            <a:avLst/>
          </a:prstGeom>
          <a:solidFill>
            <a:srgbClr val="23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2860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Auto/manual sync</a:t>
            </a:r>
            <a:br/>
            <a:r>
              <a:t>Retry with backoff</a:t>
            </a:r>
            <a:br/>
            <a:r>
              <a:t>Diff sync (delta)</a:t>
            </a:r>
            <a:br/>
            <a:r>
              <a:t>Conflict resolution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4748B"/>
                </a:solidFill>
                <a:latin typeface="Consolas"/>
              </a:defRPr>
            </a:pPr>
            <a:r>
              <a:t>&gt;&gt;&gt;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645920"/>
            <a:ext cx="2651760" cy="25603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737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B300"/>
                </a:solidFill>
                <a:latin typeface="Segoe UI"/>
              </a:defRPr>
            </a:pPr>
            <a:r>
              <a:t>Datalake 3.0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148840"/>
            <a:ext cx="2103120" cy="36576"/>
          </a:xfrm>
          <a:prstGeom prst="roundRect">
            <a:avLst/>
          </a:prstGeom>
          <a:solidFill>
            <a:srgbClr val="23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22860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S3-compatible store</a:t>
            </a:r>
            <a:br/>
            <a:r>
              <a:t>JSON + binary data</a:t>
            </a:r>
            <a:br/>
            <a:r>
              <a:t>Batch upload</a:t>
            </a:r>
            <a:br/>
            <a:r>
              <a:t>Real-time 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72000"/>
            <a:ext cx="11247120" cy="13716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SYNC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&gt; Offline-first: works with zero connectivity, syncs when 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28523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&gt; Exponential backoff retry policy (1s, 2s, 4s, 8s, max 30s)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54126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&gt; Differential sync: only sends unsynced records (delta updates)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797296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&gt; Data retention policy: auto-purge synced records after N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&gt; Storage monitoring: track local DB size, trigger cleanup alerts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Live Demo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35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ENROL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Capture face, enter details,</a:t>
            </a:r>
            <a:br/>
            <a:r>
              <a:t>BioHash + AES-256 storage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60" y="1828800"/>
            <a:ext cx="457200" cy="45720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7451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LIVENESS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Blink + Smile + Head Turn</a:t>
            </a:r>
            <a:br/>
            <a:r>
              <a:t>Real-time metric bars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1828800"/>
            <a:ext cx="457200" cy="45720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7451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AUTHENTICATE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688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Anti-spoof scan, identity</a:t>
            </a:r>
            <a:br/>
            <a:r>
              <a:t>match with confidence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3566160" cy="20116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160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B30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Auto check-in/out with</a:t>
            </a:r>
            <a:br/>
            <a:r>
              <a:t>GPS geofence verification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931920"/>
            <a:ext cx="3566160" cy="20116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80560" y="4114800"/>
            <a:ext cx="457200" cy="45720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4160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35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548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Real-time stats, 7-day</a:t>
            </a:r>
            <a:br/>
            <a:r>
              <a:t>trend, security metrics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931920"/>
            <a:ext cx="3566160" cy="201168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21040" y="4114800"/>
            <a:ext cx="457200" cy="457200"/>
          </a:xfrm>
          <a:prstGeom prst="ellipse">
            <a:avLst/>
          </a:prstGeom>
          <a:solidFill>
            <a:srgbClr val="0A0E1A"/>
          </a:solidFill>
          <a:ln w="2540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4160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5252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4160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4F8"/>
                </a:solidFill>
                <a:latin typeface="Segoe UI"/>
              </a:defRPr>
            </a:pPr>
            <a:r>
              <a:t>PPE CHECK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7548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Helmet &amp; vest detection</a:t>
            </a:r>
            <a:br/>
            <a:r>
              <a:t>before site entry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Why FaceAuth Pro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743200" cy="4572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45920"/>
            <a:ext cx="2743200" cy="457200"/>
          </a:xfrm>
          <a:prstGeom prst="roundRect">
            <a:avLst/>
          </a:prstGeom>
          <a:solidFill>
            <a:srgbClr val="2A1508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Segoe UI"/>
              </a:defRPr>
            </a:pPr>
            <a:r>
              <a:t>FaceAuth Pro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743200" cy="4572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Cloud Solutions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743200" cy="45720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Basic Biometric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762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Offline Support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214884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1762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Full offline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214884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1762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Internet required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14884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1762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Partial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50545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5328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Model Size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250545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5328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1.15 MB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50545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5328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50-200 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250545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53288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10-50 MB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86207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88950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Pipeline Speed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286207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88950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~170ms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286207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288950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500ms-2s+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20" y="286207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0" y="2889503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300-800ms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21868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246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Liveness Detection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321868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3280" y="3246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3 challenges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21868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3246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Server-side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20" y="321868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0" y="3246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357530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36027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Anti-Spoof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1840" y="357530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0" y="36027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Laplacian + live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357530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36027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Cloud AI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61120" y="357530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52560" y="36027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393192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9593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BioHash (ISO 24745)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1840" y="393192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83280" y="39593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Yes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93192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0" y="39593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20" y="393192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52560" y="39593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28853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3159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Diff Privacy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40" y="428853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83280" y="43159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Yes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26480" y="428853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17920" y="43159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61120" y="428853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52560" y="43159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464515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6725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PPE Detection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91840" y="464515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83280" y="46725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Yes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26480" y="464515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46725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Separate app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61120" y="4645152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52560" y="46725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500176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5029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Geofencing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91840" y="500176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83280" y="5029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Built-in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26480" y="500176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17920" y="5029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Separate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61120" y="5001768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52560" y="5029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535838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3858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Adaptive Threshold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291840" y="535838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83280" y="53858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ML-based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26480" y="535838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0" y="53858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Fixed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961120" y="5358384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052560" y="53858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Fixed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71500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8640" y="57424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WCAG AAA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291840" y="571500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83280" y="57424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Yes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26480" y="571500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17920" y="57424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Varies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61120" y="5715000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052560" y="57424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57200" y="607161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8640" y="6099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onsolas"/>
              </a:defRPr>
            </a:pPr>
            <a:r>
              <a:t>Hindi + English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291840" y="607161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383280" y="6099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onsolas"/>
              </a:defRPr>
            </a:pPr>
            <a:r>
              <a:t>Yes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26480" y="607161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17920" y="6099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Varies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961120" y="6071616"/>
            <a:ext cx="2743200" cy="338328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052560" y="60990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onsolas"/>
              </a:defRPr>
            </a:pPr>
            <a:r>
              <a:t>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Segoe UI"/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0F4F8"/>
                </a:solidFill>
                <a:latin typeface="Segoe UI"/>
              </a:defRPr>
            </a:pPr>
            <a:r>
              <a:t>Measurable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566160" cy="21031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E676"/>
                </a:solidFill>
                <a:latin typeface="Consolas"/>
              </a:defRPr>
            </a:pPr>
            <a:r>
              <a:t>99.28%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Segoe UI"/>
              </a:defRPr>
            </a:pPr>
            <a:r>
              <a:t>LFW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MobileFaceNet benchmark</a:t>
            </a:r>
            <a:br/>
            <a:r>
              <a:t>on standard face dataset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566160" cy="21031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6B35"/>
                </a:solidFill>
                <a:latin typeface="Consolas"/>
              </a:defRPr>
            </a:pPr>
            <a:r>
              <a:t>~170ms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560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Segoe UI"/>
              </a:defRPr>
            </a:pPr>
            <a:r>
              <a:t>Pipeline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971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Camera to authentication</a:t>
            </a:r>
            <a:br/>
            <a:r>
              <a:t>result end-to-end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566160" cy="21031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4FF"/>
                </a:solidFill>
                <a:latin typeface="Consolas"/>
              </a:defRPr>
            </a:pPr>
            <a:r>
              <a:t>1.15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560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Segoe UI"/>
              </a:defRPr>
            </a:pPr>
            <a:r>
              <a:t>Model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9718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INT8 quantized, fits any</a:t>
            </a:r>
            <a:br/>
            <a:r>
              <a:t>Android device (API 24+)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23360"/>
            <a:ext cx="3566160" cy="21031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B300"/>
                </a:solidFill>
                <a:latin typeface="Consolas"/>
              </a:defRPr>
            </a:pPr>
            <a: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377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Segoe UI"/>
              </a:defRPr>
            </a:pPr>
            <a:r>
              <a:t>Offline Capable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49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Zero internet dependency</a:t>
            </a:r>
            <a:br/>
            <a:r>
              <a:t>for all core functions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023360"/>
            <a:ext cx="3566160" cy="21031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206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5252"/>
                </a:solidFill>
                <a:latin typeface="Consolas"/>
              </a:defRPr>
            </a:pPr>
            <a:r>
              <a:t>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377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Segoe UI"/>
              </a:defRPr>
            </a:pPr>
            <a:r>
              <a:t>Ghost Workers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5349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Liveness + anti-spoof</a:t>
            </a:r>
            <a:br/>
            <a:r>
              <a:t>eliminates fake attendance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4023360"/>
            <a:ext cx="3566160" cy="210312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4206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4FF"/>
                </a:solidFill>
                <a:latin typeface="Consolas"/>
              </a:defRPr>
            </a:pPr>
            <a:r>
              <a:t>3-Layer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9377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8"/>
                </a:solidFill>
                <a:latin typeface="Segoe UI"/>
              </a:defRPr>
            </a:pPr>
            <a:r>
              <a:t>Security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5349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BioHash + Diff Privacy</a:t>
            </a:r>
            <a:br/>
            <a:r>
              <a:t>+ AES-256 encryption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8"/>
                </a:solidFill>
                <a:latin typeface="Segoe UI"/>
              </a:defRPr>
            </a:pPr>
            <a:r>
              <a:t>FACEAUTH 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  <a:latin typeface="Segoe UI"/>
              </a:defRPr>
            </a:pPr>
            <a:r>
              <a:t>Securing India's Highways, One Face at a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474720"/>
            <a:ext cx="2103120" cy="36576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35"/>
                </a:solidFill>
                <a:latin typeface="Segoe UI"/>
              </a:defRPr>
            </a:pPr>
            <a:r>
              <a:t>NHAI Hackathon 7.0  |  Datalake 3.0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16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React 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0964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0964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ML Kit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412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ONNX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1860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MobileFaceNet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7308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308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AES-256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2756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756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BioHash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047" y="5029200"/>
            <a:ext cx="1417320" cy="365760"/>
          </a:xfrm>
          <a:prstGeom prst="roundRect">
            <a:avLst/>
          </a:prstGeom>
          <a:solidFill>
            <a:srgbClr val="131829"/>
          </a:solidFill>
          <a:ln w="19050">
            <a:solidFill>
              <a:srgbClr val="23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82047" y="505663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Segoe UI"/>
              </a:defRPr>
            </a:pPr>
            <a:r>
              <a:t>Hermes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0F4F8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